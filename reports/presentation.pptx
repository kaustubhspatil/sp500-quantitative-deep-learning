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up while people settle. One line if asked: we tested whether deep learning can replace the desk's linear signal, with a sealed four-year test and honest cost accounting. The answer is nuanced and more useful than a simple yes.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 of getting it wrong: a signal below buy-and-hold has negative value - we pay infrastructure and trading costs for nothing. The reveal: once we charged realistic costs, the incumbent isn't just below target, it destroys value. 159x turnover means the linear signal flips positions constantly.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 2005-2018, tune 2019-2021, test 2022-2025 - strictly temporal, no shuffling across time. The scaler is fit on training years only. Notebook 02 PROVES features are leak-free: recompute them with future data deleted and they are identical. Keep this high level; details are for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FFNN over LSTM despite similar accuracy? Turnover. The LSTM's 43x/yr costs 0.27 of Sharpe; the CNN's 246x is fatal. MSE separates nothing (all models sit at the predict-zero floor) - expected when predicting near-noise; directional and dollar metrics decide. ResNet: interesting experiment, majority class wins, exploratory only. Fine-tuning overfit instantly: train loss 0.03, val loss 1.5 within 4 epochs.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important slide - stay on it. Blue = feedforward strategy net of costs; dashed = SPY. It tracks the 2022 bear with slightly less pain, then compounds ahead. Drawdown panel below: worst episode -21.3% Jan-Sep 2022, recovered by Jun 2023. If they remember one number: +$628K on $1M, Sharpe 0.85 vs target 0.6.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Head of Risk reads this row by row. Nothing hidden in averages: April 2022 -8.9% is the worst month, during the rate-shock bear. The pattern - red concentrated in 2022, blue after - matches the market regime, which is exactly the long-bias story on the limitations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Anticipate: 'what happens if the market crashes next week?' Honest answer: the strategy is nearly always long, so it participates in the crash - like 2022, where it lost 21% while the market lost 25%. The VIX&gt;35 circuit breaker is proposed but untested at scale (only 8 crisis days in the test window). That's a reason for the iterate verdict.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committee slide. 'Is 10 bps realistic?' For liquid large-caps at our size, 10 bps round-trip is conservative; but the point of this chart is that the answer doesn't matter for the selected model - the conclusion is invariant from 0 to 25 bps. The high-turnover models' rankings invert completely with costs, which is why gross backtests mislead.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Walk-forward chart at the bottom is the counterweight: four fresh models, four eras, dir-accuracy 52.3% +/- 0.5% and gross Sharpe 0.59 +/- 0.07 - the signal family is stable across regimes, it just hasn't proven it beats passive. 'How do we know it's not overfit?' - early stopping on a separate validation era, sealed test, walk-forward, and the model is 13k parameters, tiny.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'What would you do with 4 more weeks?' - exactly the plan on screen. 'How quickly to production if iteration succeeds?' - the pipeline already persists the scaler, weights, and monitoring thresholds; a nightly batch is ~2 weeks of engineering after sign-off. Close: retiring the incumbent is immediately accretive: it saves ~$118K/yr in trading costs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present this slide - it exists so no committee question finds us unprepared. Additional backup lives in the notebooks: Grad-CAM overlays (nb 05), CNN filter visualizations (nb 04), IC analysis (nb 02).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6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EC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CAPITAL · EQUITY DESK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Deep Learning Beat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Trading Signal?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7033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models · 20 years of S&amp;P 500 data · one $1,000,000 backtest, net of costs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B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Kaustubh Patil · 20 August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desk's signal is below target — and worse than we thought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70048" cy="1920240"/>
          </a:xfrm>
          <a:prstGeom prst="roundRect">
            <a:avLst>
              <a:gd name="adj" fmla="val 3810"/>
            </a:avLst>
          </a:prstGeom>
          <a:solidFill>
            <a:srgbClr val="F4F4F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84832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633472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trailing Sharpe of the incumbent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signal (3-year)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01568" y="1828800"/>
            <a:ext cx="2670048" cy="1920240"/>
          </a:xfrm>
          <a:prstGeom prst="roundRect">
            <a:avLst>
              <a:gd name="adj" fmla="val 3810"/>
            </a:avLst>
          </a:prstGeom>
          <a:solidFill>
            <a:srgbClr val="F4F4F1"/>
          </a:solidFill>
          <a:ln/>
        </p:spPr>
      </p:sp>
      <p:sp>
        <p:nvSpPr>
          <p:cNvPr id="8" name="Text 6"/>
          <p:cNvSpPr/>
          <p:nvPr/>
        </p:nvSpPr>
        <p:spPr>
          <a:xfrm>
            <a:off x="3401568" y="2084832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401568" y="2633472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firm's Sharpe target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deployed strategies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54496" y="1828800"/>
            <a:ext cx="2670048" cy="1920240"/>
          </a:xfrm>
          <a:prstGeom prst="roundRect">
            <a:avLst>
              <a:gd name="adj" fmla="val 3810"/>
            </a:avLst>
          </a:prstGeom>
          <a:solidFill>
            <a:srgbClr val="F4F4F1"/>
          </a:solidFill>
          <a:ln/>
        </p:spPr>
      </p:sp>
      <p:sp>
        <p:nvSpPr>
          <p:cNvPr id="11" name="Text 9"/>
          <p:cNvSpPr/>
          <p:nvPr/>
        </p:nvSpPr>
        <p:spPr>
          <a:xfrm>
            <a:off x="6254496" y="2084832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−0.30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254496" y="2633472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incumbent's 2022–25 Sharpe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of transaction costs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07424" y="1828800"/>
            <a:ext cx="2670048" cy="1920240"/>
          </a:xfrm>
          <a:prstGeom prst="roundRect">
            <a:avLst>
              <a:gd name="adj" fmla="val 3810"/>
            </a:avLst>
          </a:prstGeom>
          <a:solidFill>
            <a:srgbClr val="F4F4F1"/>
          </a:solidFill>
          <a:ln/>
        </p:spPr>
      </p:sp>
      <p:sp>
        <p:nvSpPr>
          <p:cNvPr id="14" name="Text 12"/>
          <p:cNvSpPr/>
          <p:nvPr/>
        </p:nvSpPr>
        <p:spPr>
          <a:xfrm>
            <a:off x="9107424" y="2084832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$474K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107424" y="2633472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its 159x/yr turnover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burned on $1M in 4 years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297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the CIO asked: </a:t>
            </a:r>
            <a:pPr indent="0" marL="0">
              <a:buNone/>
            </a:pPr>
            <a:r>
              <a:rPr lang="en-US" sz="17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modern deep learning extract more signal from the same market data? </a:t>
            </a:r>
            <a:pPr indent="0" marL="0">
              <a:buNone/>
            </a:pPr>
            <a:r>
              <a:rPr lang="en-US" sz="1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we also answered: </a:t>
            </a:r>
            <a:pPr indent="0" marL="0">
              <a:buNone/>
            </a:pPr>
            <a:r>
              <a:rPr lang="en-US" sz="17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signal we already run worth its costs at all?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test years, leak-proof features, one identical backtest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70048" cy="2148840"/>
          </a:xfrm>
          <a:prstGeom prst="roundRect">
            <a:avLst>
              <a:gd name="adj" fmla="val 3404"/>
            </a:avLst>
          </a:prstGeom>
          <a:solidFill>
            <a:srgbClr val="F4F4F1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13232" y="2286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YEARS OF DATA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13232" y="2624328"/>
            <a:ext cx="23957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S&amp;P 500 stocks, 2005–2025.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VIX + rates as market context.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 held out as the benchmark.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01568" y="1600200"/>
            <a:ext cx="2670048" cy="2148840"/>
          </a:xfrm>
          <a:prstGeom prst="roundRect">
            <a:avLst>
              <a:gd name="adj" fmla="val 3404"/>
            </a:avLst>
          </a:prstGeom>
          <a:solidFill>
            <a:srgbClr val="F4F4F1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66160" y="2286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FEATURES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566160" y="2624328"/>
            <a:ext cx="23957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Momentum, volatility, oscillators,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trend, volume, macro — hand-built,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leak-free by recomputation.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54496" y="1600200"/>
            <a:ext cx="2670048" cy="2148840"/>
          </a:xfrm>
          <a:prstGeom prst="roundRect">
            <a:avLst>
              <a:gd name="adj" fmla="val 3404"/>
            </a:avLst>
          </a:prstGeom>
          <a:solidFill>
            <a:srgbClr val="F4F4F1"/>
          </a:solidFill>
          <a:ln/>
        </p:spPr>
      </p:sp>
      <p:sp>
        <p:nvSpPr>
          <p:cNvPr id="13" name="Text 11"/>
          <p:cNvSpPr/>
          <p:nvPr/>
        </p:nvSpPr>
        <p:spPr>
          <a:xfrm>
            <a:off x="6419088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19088" y="2286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MODELS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19088" y="2624328"/>
            <a:ext cx="23957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(incumbent), 2 feedforward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nets, LSTM, 1D CNN — plus ResNet-18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candlestick chart images.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07424" y="1600200"/>
            <a:ext cx="2670048" cy="2148840"/>
          </a:xfrm>
          <a:prstGeom prst="roundRect">
            <a:avLst>
              <a:gd name="adj" fmla="val 3404"/>
            </a:avLst>
          </a:prstGeom>
          <a:solidFill>
            <a:srgbClr val="F4F4F1"/>
          </a:solidFill>
          <a:ln/>
        </p:spPr>
      </p:sp>
      <p:sp>
        <p:nvSpPr>
          <p:cNvPr id="17" name="Text 15"/>
          <p:cNvSpPr/>
          <p:nvPr/>
        </p:nvSpPr>
        <p:spPr>
          <a:xfrm>
            <a:off x="9272016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272016" y="2286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BACKTEST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272016" y="2624328"/>
            <a:ext cx="23957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$1M, long/flat, 10 bps costs,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2022–25 sealed until the end.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 for every signal.</a:t>
            </a:r>
            <a:endParaRPr lang="en-US" sz="1050" dirty="0"/>
          </a:p>
        </p:txBody>
      </p:sp>
      <p:pic>
        <p:nvPicPr>
          <p:cNvPr id="20" name="Image 0" descr="C:\Users\mailt\OneDrive\Desktop\Jarviss\Project-Deep Learning\Module_2_Deep_learning\capstone\reports\figures\prep_temporal_spli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17320" y="3977640"/>
            <a:ext cx="932688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1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model, one scoreboard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737360"/>
                <a:gridCol w="1554480"/>
                <a:gridCol w="1463040"/>
                <a:gridCol w="1371600"/>
                <a:gridCol w="155448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Dir. accuracy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 (gross)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 (net)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DD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Turnover/yr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66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(incumbent)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D0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D0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159x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Feedforward NN (selected)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CA3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0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 (60-day)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D0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1D CNN (60-day)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D0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D0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246x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ResNet-18 chart images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55.1% / 49.2%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0.52 / 0.49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Always-long reference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0749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of costs is the only column that matters.  </a:t>
            </a:r>
            <a:pPr indent="0" marL="0">
              <a:buNone/>
            </a:pPr>
            <a:r>
              <a:rPr lang="en-US" sz="15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 five daily signals — including the incumbent — lose money at 10 bps. The chart-reading ResNet never beat the majority class. One model cleared the firm's 0.6 target.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2 OF 5 — THE HEADLINE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$1,000,000 → $1,627,692 net of costs</a:t>
            </a:r>
            <a:endParaRPr lang="en-US" sz="3000" dirty="0"/>
          </a:p>
        </p:txBody>
      </p:sp>
      <p:pic>
        <p:nvPicPr>
          <p:cNvPr id="4" name="Image 0" descr="C:\Users\mailt\OneDrive\Desktop\Jarviss\Project-Deep Learning\Module_2_Deep_learning\capstone\reports\figures\bt_equity_cur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81328"/>
            <a:ext cx="8229600" cy="4892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006840" y="1600200"/>
            <a:ext cx="2651760" cy="1078992"/>
          </a:xfrm>
          <a:prstGeom prst="roundRect">
            <a:avLst>
              <a:gd name="adj" fmla="val 5932"/>
            </a:avLst>
          </a:prstGeom>
          <a:solidFill>
            <a:srgbClr val="F4F4F1"/>
          </a:solidFill>
          <a:ln/>
        </p:spPr>
      </p:sp>
      <p:sp>
        <p:nvSpPr>
          <p:cNvPr id="6" name="Text 3"/>
          <p:cNvSpPr/>
          <p:nvPr/>
        </p:nvSpPr>
        <p:spPr>
          <a:xfrm>
            <a:off x="9006840" y="170992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CA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+$627,692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9006840" y="22585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P&amp;L · 4 years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9006840" y="2816352"/>
            <a:ext cx="2651760" cy="1078992"/>
          </a:xfrm>
          <a:prstGeom prst="roundRect">
            <a:avLst>
              <a:gd name="adj" fmla="val 5932"/>
            </a:avLst>
          </a:prstGeom>
          <a:solidFill>
            <a:srgbClr val="F4F4F1"/>
          </a:solidFill>
          <a:ln/>
        </p:spPr>
      </p:sp>
      <p:sp>
        <p:nvSpPr>
          <p:cNvPr id="9" name="Text 6"/>
          <p:cNvSpPr/>
          <p:nvPr/>
        </p:nvSpPr>
        <p:spPr>
          <a:xfrm>
            <a:off x="9006840" y="29260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9006840" y="34747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Sharpe · target 0.6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006840" y="4032504"/>
            <a:ext cx="2651760" cy="1078992"/>
          </a:xfrm>
          <a:prstGeom prst="roundRect">
            <a:avLst>
              <a:gd name="adj" fmla="val 5932"/>
            </a:avLst>
          </a:prstGeom>
          <a:solidFill>
            <a:srgbClr val="F4F4F1"/>
          </a:solidFill>
          <a:ln/>
        </p:spPr>
      </p:sp>
      <p:sp>
        <p:nvSpPr>
          <p:cNvPr id="12" name="Text 9"/>
          <p:cNvSpPr/>
          <p:nvPr/>
        </p:nvSpPr>
        <p:spPr>
          <a:xfrm>
            <a:off x="9006840" y="414223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+$96,666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9006840" y="469087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buy-and-hold SPY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9006840" y="5248656"/>
            <a:ext cx="2651760" cy="1078992"/>
          </a:xfrm>
          <a:prstGeom prst="roundRect">
            <a:avLst>
              <a:gd name="adj" fmla="val 5932"/>
            </a:avLst>
          </a:prstGeom>
          <a:solidFill>
            <a:srgbClr val="F4F4F1"/>
          </a:solidFill>
          <a:ln/>
        </p:spPr>
      </p:sp>
      <p:sp>
        <p:nvSpPr>
          <p:cNvPr id="15" name="Text 12"/>
          <p:cNvSpPr/>
          <p:nvPr/>
        </p:nvSpPr>
        <p:spPr>
          <a:xfrm>
            <a:off x="9006840" y="535838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−21.3%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9006840" y="590702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drawdown (SPY: −24.5%)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3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Forty-eight months, no smoothing</a:t>
            </a:r>
            <a:endParaRPr lang="en-US" sz="3000" dirty="0"/>
          </a:p>
        </p:txBody>
      </p:sp>
      <p:pic>
        <p:nvPicPr>
          <p:cNvPr id="4" name="Image 0" descr="C:\Users\mailt\OneDrive\Desktop\Jarviss\Project-Deep Learning\Module_2_Deep_learning\capstone\reports\figures\bt_monthly_heat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00200"/>
            <a:ext cx="832104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052560" y="1645920"/>
            <a:ext cx="2606040" cy="1051560"/>
          </a:xfrm>
          <a:prstGeom prst="roundRect">
            <a:avLst>
              <a:gd name="adj" fmla="val 6087"/>
            </a:avLst>
          </a:prstGeom>
          <a:solidFill>
            <a:srgbClr val="F4F4F1"/>
          </a:solidFill>
          <a:ln/>
        </p:spPr>
      </p:sp>
      <p:sp>
        <p:nvSpPr>
          <p:cNvPr id="6" name="Text 3"/>
          <p:cNvSpPr/>
          <p:nvPr/>
        </p:nvSpPr>
        <p:spPr>
          <a:xfrm>
            <a:off x="9052560" y="175564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48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9052560" y="230428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positive (63%)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9052560" y="2834640"/>
            <a:ext cx="2606040" cy="1051560"/>
          </a:xfrm>
          <a:prstGeom prst="roundRect">
            <a:avLst>
              <a:gd name="adj" fmla="val 6087"/>
            </a:avLst>
          </a:prstGeom>
          <a:solidFill>
            <a:srgbClr val="F4F4F1"/>
          </a:solidFill>
          <a:ln/>
        </p:spPr>
      </p:sp>
      <p:sp>
        <p:nvSpPr>
          <p:cNvPr id="9" name="Text 6"/>
          <p:cNvSpPr/>
          <p:nvPr/>
        </p:nvSpPr>
        <p:spPr>
          <a:xfrm>
            <a:off x="9052560" y="294436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48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9052560" y="349300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beating SPY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052560" y="4023360"/>
            <a:ext cx="2606040" cy="1051560"/>
          </a:xfrm>
          <a:prstGeom prst="roundRect">
            <a:avLst>
              <a:gd name="adj" fmla="val 6087"/>
            </a:avLst>
          </a:prstGeom>
          <a:solidFill>
            <a:srgbClr val="F4F4F1"/>
          </a:solidFill>
          <a:ln/>
        </p:spPr>
      </p:sp>
      <p:sp>
        <p:nvSpPr>
          <p:cNvPr id="12" name="Text 9"/>
          <p:cNvSpPr/>
          <p:nvPr/>
        </p:nvSpPr>
        <p:spPr>
          <a:xfrm>
            <a:off x="9052560" y="413308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CA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+8.3%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9052560" y="46817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month · Nov 2023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9052560" y="5212080"/>
            <a:ext cx="2606040" cy="1051560"/>
          </a:xfrm>
          <a:prstGeom prst="roundRect">
            <a:avLst>
              <a:gd name="adj" fmla="val 6087"/>
            </a:avLst>
          </a:prstGeom>
          <a:solidFill>
            <a:srgbClr val="F4F4F1"/>
          </a:solidFill>
          <a:ln/>
        </p:spPr>
      </p:sp>
      <p:sp>
        <p:nvSpPr>
          <p:cNvPr id="15" name="Text 12"/>
          <p:cNvSpPr/>
          <p:nvPr/>
        </p:nvSpPr>
        <p:spPr>
          <a:xfrm>
            <a:off x="9052560" y="532180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−8.9%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9052560" y="587044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month · Apr 2022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(top row) is the stress test: the strategy lost −13% while SPY lost −18%. 2023–2025 compound steadily.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4 OF 5 — RISK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strategy earns — and where it would bleed</a:t>
            </a:r>
            <a:endParaRPr lang="en-US" sz="3000" dirty="0"/>
          </a:p>
        </p:txBody>
      </p:sp>
      <p:pic>
        <p:nvPicPr>
          <p:cNvPr id="4" name="Image 0" descr="C:\Users\mailt\OneDrive\Desktop\Jarviss\Project-Deep Learning\Module_2_Deep_learning\capstone\reports\figures\bt_regime_analysi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6126480" cy="329184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691640"/>
          <a:ext cx="4709160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100584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Drawdown episode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6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→ Sep 2022 (rate shock)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−21.3%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months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→ Apr 2025 (vol spike)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−16.6%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months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→ Oct 2023 (drift)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 months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1206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Calm-market seeking. </a:t>
            </a:r>
            <a:pPr indent="0" marL="0">
              <a:buNone/>
            </a:pPr>
            <a:r>
              <a:rPr lang="en-US" sz="15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+6.3 bps/day when VIX &lt; 15, thinning to +3.3 in stressed markets. The crisis bucket is 8 days — statistically meaningless, honestly labeled. Proposed overlay: cut gross exposure 50% when VIX &gt; 35.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5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is destiny: the cost-sensitivity test</a:t>
            </a:r>
            <a:endParaRPr lang="en-US" sz="3000" dirty="0"/>
          </a:p>
        </p:txBody>
      </p:sp>
      <p:pic>
        <p:nvPicPr>
          <p:cNvPr id="4" name="Image 0" descr="C:\Users\mailt\OneDrive\Desktop\Jarviss\Project-Deep Learning\Module_2_Deep_learning\capstone\reports\figures\bt_cost_sensitiv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7589520" cy="4754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66760" y="1828800"/>
            <a:ext cx="3291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flat orange line is the whole argument.
</a:t>
            </a:r>
            <a:pPr indent="0" marL="0">
              <a:buNone/>
            </a:pPr>
            <a:r>
              <a:rPr lang="en-US" sz="13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Feedforward NN: 0.87 → 0.81 Sharpe as costs rise 0 → 25 bps (turnover 4.3x/yr).
</a:t>
            </a:r>
            <a:pPr indent="0" marL="0">
              <a:buNone/>
            </a:pPr>
            <a:r>
              <a:rPr lang="en-US" sz="13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Incumbent: +0.50 → −1.50 over the same grid. Its edge was never real — it was gross-of-costs accounting.
</a:t>
            </a:r>
            <a:pPr indent="0" marL="0">
              <a:buNone/>
            </a:pPr>
            <a:r>
              <a:rPr lang="en-US" sz="13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our cost assumption to 20 bps and the conclusion moves by 0.03 Sharpe.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model is not — said plainly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4F4F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7393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a learned long bias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47.7 of 48 stocks on an average day. A 2022-style bear would be ridden down; crisis behavior is the least-tested regime (8 days).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4F4F1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177393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did not beat passive equal-weight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46520" y="21488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Universe buy-and-hold scored 0.88 vs our 0.85 — the residual timing has not yet proven standalone alpha.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4F4F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37413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sees only prices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77240" y="37490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earnings, news, or fundamentals. Structural breaks degrade it silently — hence PSI monitoring and monthly retraining.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324612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4F4F1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337413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Survivorship caveat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46520" y="37490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Universe drawn from current S&amp;P constituents — flatters all strategies and benchmarks equally; relative results stand.</a:t>
            </a:r>
            <a:endParaRPr lang="en-US" sz="1150" dirty="0"/>
          </a:p>
        </p:txBody>
      </p:sp>
      <p:pic>
        <p:nvPicPr>
          <p:cNvPr id="16" name="Image 0" descr="C:\Users\mailt\OneDrive\Desktop\Jarviss\Project-Deep Learning\Module_2_Deep_learning\capstone\reports\figures\seq_walkforw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03120" y="4956048"/>
            <a:ext cx="795528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36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EC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9611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— with two actions today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10698480" cy="1234440"/>
          </a:xfrm>
          <a:prstGeom prst="roundRect">
            <a:avLst>
              <a:gd name="adj" fmla="val 5926"/>
            </a:avLst>
          </a:prstGeom>
          <a:solidFill>
            <a:srgbClr val="123B7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093976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RETIRE THE INCUMBENT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478024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F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linear signal is value-destroying net of costs (−0.30 Sharpe, −$271K on $1M). Every scenario tested says stop trading it.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3383280"/>
            <a:ext cx="10698480" cy="1234440"/>
          </a:xfrm>
          <a:prstGeom prst="roundRect">
            <a:avLst>
              <a:gd name="adj" fmla="val 5926"/>
            </a:avLst>
          </a:prstGeom>
          <a:solidFill>
            <a:srgbClr val="123B76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511296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E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DO NOT FUND THE NEW MODEL YET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895344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F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 net Sharpe beats the target — but not passive equal-weight (0.88), and its long bias is untested in a bear regime.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" y="4800600"/>
            <a:ext cx="10698480" cy="1234440"/>
          </a:xfrm>
          <a:prstGeom prst="roundRect">
            <a:avLst>
              <a:gd name="adj" fmla="val 5926"/>
            </a:avLst>
          </a:prstGeom>
          <a:solidFill>
            <a:srgbClr val="123B7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928616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B9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FOUR-WEEK ITERATION PLAN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5312664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F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Cost-aware training objective · volatility-scaled sizing · FFNN+LSTM ensemble · bear-regime walk-forward on 2008 · then re-present.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6B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iterate, delivered with evidence, protects the desk better than an oversold deploy.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Q&amp;A 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Pre-answered: the questions we expect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'How did you prevent look-ahead bias?'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938528"/>
            <a:ext cx="5440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proven identical when future data is deleted (nb 02) · temporal splits · scaler fit on train only · costs charged on every position change.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217920" y="155448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'Is performance stable across folds?'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938528"/>
            <a:ext cx="5440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Walk-forward: dir-acc 52.3% ± 0.5%, gross Sharpe 0.59 ± 0.07 over four fresh retrains spanning 2019–2025.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'What is the retraining cadence?'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538728"/>
            <a:ext cx="5440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champion/challenger; PSI &gt; 0.2 on any feature triggers revalidation; 63-day dir-acc &lt; 50% alerts; −15% drawdown escalates.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0" y="315468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'Why not the chart-image model?'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3538728"/>
            <a:ext cx="5440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 never beat the majority class: AUC 0.52 frozen, 0.49 fine-tuned — even ignoring the cutoff, it cannot rank charts by what happens next. Grad-CAM shows it attends to sensible regions, but 5-day drift dominates chart geometry. Most expensive signal per unit of accuracy — exploratory only.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75488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'Dollar value of retiring the incumbent?'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5138928"/>
            <a:ext cx="5440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lost $271K over 4 years while paying $474K in costs — stopping it is worth ~$118K/yr in costs alone before any alpha.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0" y="475488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'Is the model correlated with existing books?'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5138928"/>
            <a:ext cx="5440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~99% long the same large-cap universe — assume high correlation with any long equity book; it diversifies timing, not exposure.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 Equity Signal</dc:title>
  <dc:subject>PptxGenJS Presentation</dc:subject>
  <dc:creator>Kaustubh Patil</dc:creator>
  <cp:lastModifiedBy>Kaustubh Patil</cp:lastModifiedBy>
  <cp:revision>1</cp:revision>
  <dcterms:created xsi:type="dcterms:W3CDTF">2026-08-25T14:55:10Z</dcterms:created>
  <dcterms:modified xsi:type="dcterms:W3CDTF">2026-08-25T14:55:10Z</dcterms:modified>
</cp:coreProperties>
</file>